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AA9D-88B9-4CA9-ADAB-E4736F3E8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FE35A-5F52-44B6-89CB-C3C197B39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9BC1-9447-49FB-9FC4-10F570A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5308-2757-4572-92D7-4C2E5977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3787A-451A-4E3A-B7B8-17039DC5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2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2584-3E12-4AD8-9EE2-5424432F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3D31-032D-4F08-9267-16F02089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7C20-3160-484C-AEFE-F311DF1E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F2083-27ED-4D8D-B4C6-E74288AF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9DA5-4318-4853-BD42-81AC53E4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9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B710-2C9C-4A6C-833A-4A6D98FE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7C063-5AB3-463A-A7CC-3DBAAA3CE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6645-4330-4312-A0E7-9F2ABA12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F4120-D620-4318-9634-2CD337A1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BEDC1-6094-44D2-802E-5525F248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8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C890-60A3-4671-896E-AF844B92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F750-8C45-4FA0-B32C-2F831137D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C74D8-1A7B-4D6A-913A-94ACD3ABE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BB3D5-CA46-4078-923E-10E7ED63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58F47-6E8D-45A0-BF08-DF527254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F93E8-27AD-4618-A727-E3F44F23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5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145E-47F6-49DC-9EFD-F481D299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FBFA7-914D-4D76-893D-1BA0EB778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30559-D1D3-4CBE-8636-AC5CF588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9C52D-04AF-4B5F-872A-9700E41AB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421E9-3E48-4FBB-B5A9-46FDEE89B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74C9C-E64F-4A09-874E-DB0393EE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ED30C-AF60-4E63-838B-F4884B1D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E8DA2-77AC-4CEC-B4F5-3A5938FC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3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D357-3A21-4D95-A3FC-58BE4456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00DA3-6E57-4762-B3A3-5C2EFB16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A34A5-68B2-45AE-B11A-AB256DB4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0F65D-E501-406D-A7C1-D9440ECC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5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AAF11-950E-45B5-B4D5-4B023A29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1F912-CC0F-4087-9688-A3CBDD28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011EF-BEB5-4800-AD2E-CD67AE66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2DDF-1C2C-4AA9-8879-D70C07CE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6FAE-F9DD-4462-B1C7-0D7BC0DC1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35DB8-3C68-4058-BF79-F3C3F5A96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62352-574A-40D3-9C9D-58269D25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54DBF-B984-4743-AC37-B77B54AD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77B92-64B6-4FBC-B5D1-3BBCF93C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3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4294-8BCA-449A-B156-1CAE8374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6071C-C597-4F07-808D-A6F41042B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D3BA0-7090-4066-A722-80AB3FA00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B21F8-1EF0-40AA-AB97-18A322D9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E259D-70E8-4A2A-94D3-068A6500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825AE-E3BE-49D0-9FCE-F67AEB9F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8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CA78-66B0-439C-BC0E-3438DC6B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48225-633D-4C93-A236-190D4260E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D52B-696B-4F2B-939A-AD71FDE8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E5A-FFE9-484C-A467-ED8B450BF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4F00-89B8-4CC9-ADA1-0A3BBAE2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9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3D15D-5BAE-4795-929B-E0D0399EB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9E77D-A4E1-4886-867B-EB2E88EA3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2D9F7-EF2A-4678-8D82-C56DDCDE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5BA7-B094-4583-8AFD-C0C1CFD9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6D566-EE87-456E-B88F-B8DCEBC6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4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8B589-23FD-4BEE-88D3-E99FD05B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5E4A6-A8F2-495D-8E70-9A752736D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D040-D1DC-4AEF-ABB0-3E16BE73D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EE71E-98FF-44C2-9C13-7EEF9738080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171C-7BA4-4CFF-9F8C-C56EF1351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7684-7A00-428F-A84D-88EF0C532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741F-DCA9-4B43-BF56-1A46F7189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2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3136D-28FE-46B6-8C37-832C7B28B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5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About Me: Data Science Journey">
            <a:extLst>
              <a:ext uri="{FF2B5EF4-FFF2-40B4-BE49-F238E27FC236}">
                <a16:creationId xmlns:a16="http://schemas.microsoft.com/office/drawing/2014/main" id="{BF2BA9C5-3448-49C3-9FEA-266B8FEE7A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4FEF3-33B7-452D-93D7-7448E1F1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0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78F9-5E57-40E8-84C4-2C30EEAF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0A140-01C2-4364-A571-5A337B6FF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72235"/>
            <a:ext cx="10780059" cy="47494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To develop a hotel database using SQL.</a:t>
            </a:r>
          </a:p>
          <a:p>
            <a:pPr marL="0" indent="0">
              <a:buNone/>
            </a:pPr>
            <a:r>
              <a:rPr lang="en-US" dirty="0"/>
              <a:t>• To store guest and hotel details properly.</a:t>
            </a:r>
          </a:p>
          <a:p>
            <a:pPr marL="0" indent="0">
              <a:buNone/>
            </a:pPr>
            <a:r>
              <a:rPr lang="en-US" dirty="0"/>
              <a:t>• To manage room details and availability.</a:t>
            </a:r>
          </a:p>
          <a:p>
            <a:pPr marL="0" indent="0">
              <a:buNone/>
            </a:pPr>
            <a:r>
              <a:rPr lang="en-US" dirty="0"/>
              <a:t>• To maintain booking and stay records.</a:t>
            </a:r>
          </a:p>
          <a:p>
            <a:pPr marL="0" indent="0">
              <a:buNone/>
            </a:pPr>
            <a:r>
              <a:rPr lang="en-US" dirty="0"/>
              <a:t>• To manage staff and their work details.</a:t>
            </a:r>
          </a:p>
          <a:p>
            <a:pPr marL="0" indent="0">
              <a:buNone/>
            </a:pPr>
            <a:r>
              <a:rPr lang="en-US" dirty="0"/>
              <a:t>• To analyze hotel data using SQL queries.</a:t>
            </a:r>
          </a:p>
          <a:p>
            <a:pPr marL="0" indent="0">
              <a:buNone/>
            </a:pPr>
            <a:r>
              <a:rPr lang="en-US" dirty="0"/>
              <a:t>• To get useful results for better hotel management.</a:t>
            </a:r>
          </a:p>
        </p:txBody>
      </p:sp>
      <p:pic>
        <p:nvPicPr>
          <p:cNvPr id="4" name="Picture 3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2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F9ADD0-3A7C-4F1F-9208-667A2366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Database Structure: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18DF2F-DBDD-43F5-A929-2184D0BD5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project contains </a:t>
            </a:r>
            <a:r>
              <a:rPr lang="en-US" b="1" dirty="0"/>
              <a:t>6 connected tables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Guests </a:t>
            </a:r>
          </a:p>
          <a:p>
            <a:pPr marL="0" indent="0">
              <a:buNone/>
            </a:pPr>
            <a:r>
              <a:rPr lang="en-US" dirty="0"/>
              <a:t>• Hotels </a:t>
            </a:r>
          </a:p>
          <a:p>
            <a:pPr marL="0" indent="0">
              <a:buNone/>
            </a:pPr>
            <a:r>
              <a:rPr lang="en-US" dirty="0"/>
              <a:t>• Staff </a:t>
            </a:r>
          </a:p>
          <a:p>
            <a:pPr marL="0" indent="0">
              <a:buNone/>
            </a:pPr>
            <a:r>
              <a:rPr lang="en-US" dirty="0"/>
              <a:t>• Rooms </a:t>
            </a:r>
          </a:p>
          <a:p>
            <a:pPr marL="0" indent="0">
              <a:buNone/>
            </a:pPr>
            <a:r>
              <a:rPr lang="en-US" dirty="0"/>
              <a:t>• Bookings </a:t>
            </a:r>
          </a:p>
          <a:p>
            <a:pPr marL="0" indent="0">
              <a:buNone/>
            </a:pPr>
            <a:r>
              <a:rPr lang="en-US" dirty="0"/>
              <a:t>• Stays</a:t>
            </a:r>
          </a:p>
          <a:p>
            <a:pPr marL="0" indent="0">
              <a:buNone/>
            </a:pPr>
            <a:r>
              <a:rPr lang="en-US" dirty="0"/>
              <a:t>These tables are connected using Primary Keys and Foreign Keys. This helps to organize the data and maintain proper relationships between different hotel records.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_page_4.png">
            <a:extLst>
              <a:ext uri="{FF2B5EF4-FFF2-40B4-BE49-F238E27FC236}">
                <a16:creationId xmlns:a16="http://schemas.microsoft.com/office/drawing/2014/main" id="{B3AFE8CD-9B59-4596-A9D3-93752229CF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6462" y="401053"/>
            <a:ext cx="12015537" cy="661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1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page_5.png">
            <a:extLst>
              <a:ext uri="{FF2B5EF4-FFF2-40B4-BE49-F238E27FC236}">
                <a16:creationId xmlns:a16="http://schemas.microsoft.com/office/drawing/2014/main" id="{7A7E9242-39BB-4BD4-880E-5BCB04B5E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7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6.png">
            <a:extLst>
              <a:ext uri="{FF2B5EF4-FFF2-40B4-BE49-F238E27FC236}">
                <a16:creationId xmlns:a16="http://schemas.microsoft.com/office/drawing/2014/main" id="{80FC561D-2060-4593-A302-8C6968C1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7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7.png">
            <a:extLst>
              <a:ext uri="{FF2B5EF4-FFF2-40B4-BE49-F238E27FC236}">
                <a16:creationId xmlns:a16="http://schemas.microsoft.com/office/drawing/2014/main" id="{4EFBADAB-9E72-4CEB-A013-717FBFD6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8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8.png">
            <a:extLst>
              <a:ext uri="{FF2B5EF4-FFF2-40B4-BE49-F238E27FC236}">
                <a16:creationId xmlns:a16="http://schemas.microsoft.com/office/drawing/2014/main" id="{1795B050-0E9E-4EE0-BB96-A01F9D8E6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7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9.png">
            <a:extLst>
              <a:ext uri="{FF2B5EF4-FFF2-40B4-BE49-F238E27FC236}">
                <a16:creationId xmlns:a16="http://schemas.microsoft.com/office/drawing/2014/main" id="{5F1DFD3E-16E8-4CA4-A4FC-DE48D49EE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0.png">
            <a:extLst>
              <a:ext uri="{FF2B5EF4-FFF2-40B4-BE49-F238E27FC236}">
                <a16:creationId xmlns:a16="http://schemas.microsoft.com/office/drawing/2014/main" id="{529F6D7D-30E0-4F90-ACD2-B82E4989D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7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1.png">
            <a:extLst>
              <a:ext uri="{FF2B5EF4-FFF2-40B4-BE49-F238E27FC236}">
                <a16:creationId xmlns:a16="http://schemas.microsoft.com/office/drawing/2014/main" id="{F875C4A5-8329-455E-A3F0-440D25CAC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2.png">
            <a:extLst>
              <a:ext uri="{FF2B5EF4-FFF2-40B4-BE49-F238E27FC236}">
                <a16:creationId xmlns:a16="http://schemas.microsoft.com/office/drawing/2014/main" id="{CB71C282-82AC-445E-93ED-255E88D1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2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3.png">
            <a:extLst>
              <a:ext uri="{FF2B5EF4-FFF2-40B4-BE49-F238E27FC236}">
                <a16:creationId xmlns:a16="http://schemas.microsoft.com/office/drawing/2014/main" id="{B67AF7A2-F407-4990-B4D5-219AA9CCC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_page_14.png">
            <a:extLst>
              <a:ext uri="{FF2B5EF4-FFF2-40B4-BE49-F238E27FC236}">
                <a16:creationId xmlns:a16="http://schemas.microsoft.com/office/drawing/2014/main" id="{3128F3B7-03E7-4872-A92D-B578715A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87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5.png">
            <a:extLst>
              <a:ext uri="{FF2B5EF4-FFF2-40B4-BE49-F238E27FC236}">
                <a16:creationId xmlns:a16="http://schemas.microsoft.com/office/drawing/2014/main" id="{0E620B2F-C8DF-42F6-ACC7-5058A74D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447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80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6.png">
            <a:extLst>
              <a:ext uri="{FF2B5EF4-FFF2-40B4-BE49-F238E27FC236}">
                <a16:creationId xmlns:a16="http://schemas.microsoft.com/office/drawing/2014/main" id="{79EDF5D4-9D78-439A-A85F-0417F8931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45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page_17.png">
            <a:extLst>
              <a:ext uri="{FF2B5EF4-FFF2-40B4-BE49-F238E27FC236}">
                <a16:creationId xmlns:a16="http://schemas.microsoft.com/office/drawing/2014/main" id="{772B0824-E184-4D1C-81C9-11955B61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0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8.png">
            <a:extLst>
              <a:ext uri="{FF2B5EF4-FFF2-40B4-BE49-F238E27FC236}">
                <a16:creationId xmlns:a16="http://schemas.microsoft.com/office/drawing/2014/main" id="{225AC505-4673-402B-8341-0A9E16183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8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19.png">
            <a:extLst>
              <a:ext uri="{FF2B5EF4-FFF2-40B4-BE49-F238E27FC236}">
                <a16:creationId xmlns:a16="http://schemas.microsoft.com/office/drawing/2014/main" id="{46A57F2F-8001-4C42-9098-827B921A9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54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20.png">
            <a:extLst>
              <a:ext uri="{FF2B5EF4-FFF2-40B4-BE49-F238E27FC236}">
                <a16:creationId xmlns:a16="http://schemas.microsoft.com/office/drawing/2014/main" id="{3D1B2919-474F-400C-8426-2C812DBEB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29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21.png">
            <a:extLst>
              <a:ext uri="{FF2B5EF4-FFF2-40B4-BE49-F238E27FC236}">
                <a16:creationId xmlns:a16="http://schemas.microsoft.com/office/drawing/2014/main" id="{98E9D6E8-15FA-49F5-A70F-E8345162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82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22.png">
            <a:extLst>
              <a:ext uri="{FF2B5EF4-FFF2-40B4-BE49-F238E27FC236}">
                <a16:creationId xmlns:a16="http://schemas.microsoft.com/office/drawing/2014/main" id="{9E9A9989-EB65-423A-A63D-ED80385C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93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ge_23.png">
            <a:extLst>
              <a:ext uri="{FF2B5EF4-FFF2-40B4-BE49-F238E27FC236}">
                <a16:creationId xmlns:a16="http://schemas.microsoft.com/office/drawing/2014/main" id="{C4FA54B1-D90F-4FA2-A6A0-8503D8B1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88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8300-F997-41AC-A4FC-61733256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E4EE-C7FA-4580-AF32-B7C22CAEA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Booking levels are different across hotels, with some receiving more reservations.</a:t>
            </a:r>
          </a:p>
          <a:p>
            <a:pPr marL="0" indent="0">
              <a:buNone/>
            </a:pPr>
            <a:r>
              <a:rPr lang="en-US" dirty="0"/>
              <a:t>• Guest booking patterns vary between different customer types.</a:t>
            </a:r>
          </a:p>
          <a:p>
            <a:pPr marL="0" indent="0">
              <a:buNone/>
            </a:pPr>
            <a:r>
              <a:rPr lang="en-US" dirty="0"/>
              <a:t>• Cancellations and no-shows can reduce occupancy and revenue.</a:t>
            </a:r>
          </a:p>
          <a:p>
            <a:pPr marL="0" indent="0">
              <a:buNone/>
            </a:pPr>
            <a:r>
              <a:rPr lang="en-US" dirty="0"/>
              <a:t>• Some room types are more popular and frequently used.</a:t>
            </a:r>
          </a:p>
          <a:p>
            <a:pPr marL="0" indent="0">
              <a:buNone/>
            </a:pPr>
            <a:r>
              <a:rPr lang="en-US" dirty="0"/>
              <a:t>• Staff workload varies based on stays and service requests.</a:t>
            </a:r>
          </a:p>
          <a:p>
            <a:pPr marL="0" indent="0">
              <a:buNone/>
            </a:pPr>
            <a:r>
              <a:rPr lang="en-US" dirty="0"/>
              <a:t>• Overall, the analysis helps identify booking trends, guest preferences, room demand, and areas for improving hotel operations.</a:t>
            </a:r>
          </a:p>
        </p:txBody>
      </p:sp>
      <p:pic>
        <p:nvPicPr>
          <p:cNvPr id="4" name="Picture 3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7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4DC5-09F0-4F52-9FF4-412C7ADB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0E03A-35DF-48A2-89FA-F2122B1A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Make more rooms available in hotels and room categories that have higher demand.</a:t>
            </a:r>
          </a:p>
          <a:p>
            <a:pPr marL="0" indent="0">
              <a:buNone/>
            </a:pPr>
            <a:r>
              <a:rPr lang="en-US" dirty="0"/>
              <a:t>• Send regular booking reminders and follow simple cancellation rules to avoid lost reservations.</a:t>
            </a:r>
          </a:p>
          <a:p>
            <a:pPr marL="0" indent="0">
              <a:buNone/>
            </a:pPr>
            <a:r>
              <a:rPr lang="en-US" dirty="0"/>
              <a:t>• Create attractive offers for different guest groups, especially individual and corporate customers.</a:t>
            </a:r>
          </a:p>
          <a:p>
            <a:pPr marL="0" indent="0">
              <a:buNone/>
            </a:pPr>
            <a:r>
              <a:rPr lang="en-US" dirty="0"/>
              <a:t>• Assign staff according to the number of guests, bookings, and services required.</a:t>
            </a:r>
          </a:p>
          <a:p>
            <a:pPr marL="0" indent="0">
              <a:buNone/>
            </a:pPr>
            <a:r>
              <a:rPr lang="en-US" dirty="0"/>
              <a:t>• Give priority to booking channels that perform well and improve the channels with fewer bookings.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99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3AC2-6079-462B-A714-FF9B3CC6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5D06-D23E-4FFE-AF65-7808D3DE9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Understanding the connections between guests, hotels, rooms, bookings, stays, and staff.</a:t>
            </a:r>
          </a:p>
          <a:p>
            <a:pPr marL="0" indent="0">
              <a:buNone/>
            </a:pPr>
            <a:r>
              <a:rPr lang="en-US" dirty="0"/>
              <a:t>• Creating SQL queries using joins, filters, grouping, and other functions.</a:t>
            </a:r>
          </a:p>
          <a:p>
            <a:pPr marL="0" indent="0">
              <a:buNone/>
            </a:pPr>
            <a:r>
              <a:rPr lang="en-US" dirty="0"/>
              <a:t>• Keeping the data correct while checking bookings, stays, and cancellations.</a:t>
            </a:r>
          </a:p>
          <a:p>
            <a:pPr marL="0" indent="0">
              <a:buNone/>
            </a:pPr>
            <a:r>
              <a:rPr lang="en-US" dirty="0"/>
              <a:t>• Finding useful information and patterns from the database.</a:t>
            </a:r>
          </a:p>
          <a:p>
            <a:pPr marL="0" indent="0">
              <a:buNone/>
            </a:pPr>
            <a:r>
              <a:rPr lang="en-US" dirty="0"/>
              <a:t>• Comparing bookings, revenue, room usage, guest activity, and staff performance.</a:t>
            </a:r>
          </a:p>
        </p:txBody>
      </p:sp>
      <p:pic>
        <p:nvPicPr>
          <p:cNvPr id="4" name="Picture 3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9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DCE1-28E6-42C7-82F8-9151C8D2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D4481-5C37-4268-96B0-F2A89D67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• Analyzed hotel reservation data using SQL to understand booking and stay activities.</a:t>
            </a:r>
          </a:p>
          <a:p>
            <a:pPr marL="0" indent="0">
              <a:buNone/>
            </a:pPr>
            <a:r>
              <a:rPr lang="en-US" dirty="0"/>
              <a:t>• Identified key trends in bookings, cancellations, occupancy, and room availability</a:t>
            </a:r>
          </a:p>
          <a:p>
            <a:pPr marL="0" indent="0">
              <a:buNone/>
            </a:pPr>
            <a:r>
              <a:rPr lang="en-US" dirty="0"/>
              <a:t>• Used SQL queries with different tables to get useful information from the database.</a:t>
            </a:r>
          </a:p>
          <a:p>
            <a:pPr marL="0" indent="0">
              <a:buNone/>
            </a:pPr>
            <a:r>
              <a:rPr lang="en-US" dirty="0"/>
              <a:t>• Observed booking patterns and changes in overall hotel operations.</a:t>
            </a:r>
          </a:p>
          <a:p>
            <a:pPr marL="0" indent="0">
              <a:buNone/>
            </a:pPr>
            <a:r>
              <a:rPr lang="en-US" dirty="0"/>
              <a:t>• The analysis can help improve room planning, staff work, and reservation management.</a:t>
            </a:r>
          </a:p>
          <a:p>
            <a:pPr marL="0" indent="0">
              <a:buNone/>
            </a:pPr>
            <a:r>
              <a:rPr lang="en-US" dirty="0"/>
              <a:t>• Overall, the project demonstrates how SQL can be used for effective Hostel</a:t>
            </a:r>
          </a:p>
          <a:p>
            <a:pPr marL="0" indent="0">
              <a:buNone/>
            </a:pPr>
            <a:r>
              <a:rPr lang="en-US" dirty="0"/>
              <a:t>Reservation Operations Analytics.</a:t>
            </a:r>
          </a:p>
        </p:txBody>
      </p:sp>
      <p:pic>
        <p:nvPicPr>
          <p:cNvPr id="4" name="Picture 3" descr="curr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6053328"/>
            <a:ext cx="233172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63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4433F8-D08D-4478-ACCE-C2B544AF23FB}"/>
              </a:ext>
            </a:extLst>
          </p:cNvPr>
          <p:cNvSpPr txBox="1"/>
          <p:nvPr/>
        </p:nvSpPr>
        <p:spPr>
          <a:xfrm>
            <a:off x="929944" y="2746679"/>
            <a:ext cx="127502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pic>
        <p:nvPicPr>
          <p:cNvPr id="5" name="Picture 4" descr="_page_28.png">
            <a:extLst>
              <a:ext uri="{FF2B5EF4-FFF2-40B4-BE49-F238E27FC236}">
                <a16:creationId xmlns:a16="http://schemas.microsoft.com/office/drawing/2014/main" id="{8D0F8E14-020F-429E-973B-9F7B5B48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86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440</Words>
  <Application>Microsoft Office PowerPoint</Application>
  <PresentationFormat>Widescreen</PresentationFormat>
  <Paragraphs>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Objective of the Project</vt:lpstr>
      <vt:lpstr>Database Structure: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Recommendations</vt:lpstr>
      <vt:lpstr>Challenges Faced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KOMMU SONY</dc:creator>
  <cp:lastModifiedBy>KOMMU SONY</cp:lastModifiedBy>
  <cp:revision>3</cp:revision>
  <dcterms:created xsi:type="dcterms:W3CDTF">2026-09-04T12:21:25Z</dcterms:created>
  <dcterms:modified xsi:type="dcterms:W3CDTF">2026-10-06T12:21:44Z</dcterms:modified>
</cp:coreProperties>
</file>